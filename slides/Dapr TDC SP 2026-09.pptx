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32"/>
  </p:notesMasterIdLst>
  <p:handoutMasterIdLst>
    <p:handoutMasterId r:id="rId33"/>
  </p:handoutMasterIdLst>
  <p:sldIdLst>
    <p:sldId id="1393" r:id="rId8"/>
    <p:sldId id="1834" r:id="rId9"/>
    <p:sldId id="1850" r:id="rId10"/>
    <p:sldId id="1801" r:id="rId11"/>
    <p:sldId id="1518" r:id="rId12"/>
    <p:sldId id="1839" r:id="rId13"/>
    <p:sldId id="1837" r:id="rId14"/>
    <p:sldId id="1835" r:id="rId15"/>
    <p:sldId id="1838" r:id="rId16"/>
    <p:sldId id="1843" r:id="rId17"/>
    <p:sldId id="1849" r:id="rId18"/>
    <p:sldId id="1840" r:id="rId19"/>
    <p:sldId id="1851" r:id="rId20"/>
    <p:sldId id="1852" r:id="rId21"/>
    <p:sldId id="1853" r:id="rId22"/>
    <p:sldId id="1854" r:id="rId23"/>
    <p:sldId id="1855" r:id="rId24"/>
    <p:sldId id="1841" r:id="rId25"/>
    <p:sldId id="1844" r:id="rId26"/>
    <p:sldId id="1848" r:id="rId27"/>
    <p:sldId id="1856" r:id="rId28"/>
    <p:sldId id="1857" r:id="rId29"/>
    <p:sldId id="1777" r:id="rId30"/>
    <p:sldId id="1750" r:id="rId31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34"/>
            <p14:sldId id="1850"/>
            <p14:sldId id="1801"/>
            <p14:sldId id="1518"/>
            <p14:sldId id="1839"/>
            <p14:sldId id="1837"/>
            <p14:sldId id="1835"/>
            <p14:sldId id="1838"/>
            <p14:sldId id="1843"/>
            <p14:sldId id="1849"/>
            <p14:sldId id="1840"/>
            <p14:sldId id="1851"/>
            <p14:sldId id="1852"/>
            <p14:sldId id="1853"/>
            <p14:sldId id="1854"/>
            <p14:sldId id="1855"/>
            <p14:sldId id="1841"/>
            <p14:sldId id="1844"/>
            <p14:sldId id="1848"/>
            <p14:sldId id="1856"/>
            <p14:sldId id="1857"/>
            <p14:sldId id="1777"/>
          </p14:sldIdLst>
        </p14:section>
        <p14:section name="Finalizando" id="{CF622469-3E87-46BA-8ED6-912C47B00EF3}">
          <p14:sldIdLst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5033" autoAdjust="0"/>
  </p:normalViewPr>
  <p:slideViewPr>
    <p:cSldViewPr>
      <p:cViewPr varScale="1">
        <p:scale>
          <a:sx n="77" d="100"/>
          <a:sy n="77" d="100"/>
        </p:scale>
        <p:origin x="787" y="43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9/22/2026 8:19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E923-983F-CF11-0B22-6DB23B4F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F690EF-2E1B-783B-7412-65BE11510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C01A22-1985-00B9-DEC9-B69408198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4B2D07-5EE8-E4B6-F36F-65B00BBF7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48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5E24-E170-7DA5-797D-63B9419A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8E02F1-CC48-1600-13E1-EDD9512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C2294-6D00-70AB-5B32-1E9A41645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873F75D-6A5E-02DC-69F7-F2F5E93CC8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D550D-90E6-9443-25A9-827E7A10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CC0E5BB-2784-7852-29C2-8974A05C351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E9B2B-137A-FCEA-87AE-DF517B41EA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16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1DF5-5732-9C99-21B1-7095A6CC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4C062-5272-2D28-CFDF-5F0728FD8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CB512C-71C5-9FD9-FC14-37D1B1C94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7AD9B17D-063A-34FB-1600-762D7D7C425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ACE36B-C227-F398-F058-0E95B3FE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E02D348-1914-FE5F-2308-0557D2C76F6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BD4385-114F-379D-4874-C13EA0A9E1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828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5757-F977-AA4C-13B2-2BB544B5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BDADDD-BC7D-B38E-1EB8-40A52B8DA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00B2BB-5D94-8A3E-1F45-12E2F3FB8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068FD9C-4123-5A16-D146-2E78C332089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A954EC-03EF-24AF-8B3F-9E6E8B16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2BA5E180-40BB-9D3D-B496-D9A44C4CC68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BD4D31-D138-CC9B-1EF1-C3E02AF6DE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050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5D741-D7FD-1D37-C71D-9F1FE8B1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DD5C8C-CFA0-F713-EE47-8246BCBA8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32128C-37D5-FC26-B833-559028AC7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A209506-5C43-A767-5D87-C4F70836DFB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49F264-4389-3BDD-61ED-56558940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303F23B-FEC6-C14C-B326-B781AD86B36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A64CDB-5E29-4E07-8B30-1AA6CA29A7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1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B0276-53B5-2DEF-1C35-16248925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7EC357-05EC-83B4-7159-32D755F1D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D916D8-2A56-7E5C-4D5A-E6D8F11A4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7975DD9D-F164-DB30-3558-BE92EAFF603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34C691-EEE2-A469-FF3A-CD3C5835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0F53047-BC0E-D95C-5232-39726638D8E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D5FF74-C71D-953A-1A7D-D218C88284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57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14D9C-3D3F-9995-508F-FFDD4C03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AF89ED-1B29-3200-7B5A-BCED3DB16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74E7CE6-F4F4-2F4E-A96F-E5331CBB3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BD1B8332-6AD4-C676-58C4-3FD101006D5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78B176-4B84-5C28-C05B-3943FA44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4B47D30-6CE6-F515-FC6E-64A7325994A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18504A-E548-3F18-0229-49191676AF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628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507A-968A-776A-62E6-F0E2CDFAC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2B6B38-4F55-236C-7B67-BC7D8FAE2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AA8D81-5D75-3401-5DDC-CACF1BCC4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6766680-B7D5-71E7-97A1-E5005C1E4B5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7FD21A-080D-CC2E-6636-68DB3D6FD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9BCA61-084E-9F5B-FB7E-A5AC5695FFC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2A0FA-D07C-B823-3BFC-D37CD61492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930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57E0-0226-7800-D7B6-2FE4F6C4F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683692D-D820-1C43-89A4-4E97D21B4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58BB3E-483C-C90D-271E-C65EC10CC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A4AEED6-BD03-0BD8-34E9-40A3036259A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69975A-E3D8-4AE3-FE43-F77E4448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0B6B78B-5D4B-9680-982A-BDCEB35C3DD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686F25-0C99-742C-C6D0-EC76B308F5C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022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65C6A-5DB0-E573-1401-381024CA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1155FA0-AB14-B53A-29EA-FAE2B3CEC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F8E5A1-2046-C0E1-45BF-18CAA3485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F2D827B0-EDC6-91CF-10C7-98D52370A25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CC03BA-7991-7CDB-BD44-84661CC8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A424851-083A-F971-95AD-2A50E1B168C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8:19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5725EA-9226-9D6E-089F-69CFBE43A8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44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9B8EB-4DAA-AD1C-E9E3-0C4FEC566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658001-A138-A39E-F585-CB6D90AD4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17FF814-9BCE-11E3-9ED1-A57E7B5B6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26BFEF3-DA57-1820-3165-98882CD36FF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3B19F5-C7F0-C6D7-DE1B-EE2CF5E7C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33AF740-8ED5-BDBB-82E6-C7500AC2213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8:21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752D35-1FF5-530B-695C-BF8E3CBB18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18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2374-880D-7346-E872-A32F08C9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D734F73-2F23-7DAB-7446-D3A10ABBA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D9838F7-0529-9D46-B7CA-709F7AA4B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F222C486-61F6-19C6-5E98-57F4FF136B1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7BFE01-EABF-EDD2-EC72-539166B4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95E963A-25DF-4CD4-B1E9-ADFB346C66A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9:00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F66BE9-9B2E-C699-DF06-6197603AD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98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C9DC5-7927-3BB9-BEC9-1BEFF7BEE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B9EC32-9BE4-8EFF-295A-FDDED666F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16A85C-A708-FBF9-CFC1-176A0EF53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B2600FCF-C8C7-4D27-EED2-32F21542B45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C93CD-CB34-D0DB-B436-0914E606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65C3D3CE-D00A-DAB8-C1AD-9EAECEC3C4F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9:17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482D58-194F-DFB0-4EF8-8EDFAE78E1E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55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5E5E-BF19-6DF3-F387-2F9347AB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F7D763-F143-4343-C378-F314875F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7183ABF-13FB-E781-B926-F5267694C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8B8C67A-1DCE-A999-30A7-D8F5F125E59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F75B88-2788-315C-59CF-59AF63C07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10AAB5C-143C-3702-F2FA-D5A549DE09A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9:31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544D1E-4138-8490-2CDF-D19231ABDA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474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E6364-4DF8-28CD-2F89-446A2A1B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70821C3-6F7C-C129-B00D-10193C97B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1349E0-21DA-53EB-3A5A-1E742F8A4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9C64F0B-C2EA-C94A-ECF9-5A080CE3874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436543-5210-E59C-A3B4-C818AB02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67ECBD64-CB3F-5B17-6D33-2D40A22B4F0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CFD7B1-5CAA-B10F-2C3D-0E696CBC8E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6873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DA02-53AC-0AE7-7F67-3DB4906CB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E656EDE-287A-99DC-5CE9-A1E82977F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57894F-A3A8-EC89-7A7B-D766F6F99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8521932-3FC9-EE69-4211-7BAB9B26906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03B5E2-9090-835F-2962-29D263F2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4A34B92-A6D5-3EAB-7CCF-74C2144C0BA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0503EC-6DFD-8CF8-E439-84B7BCD3A6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65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EDBBA-8D50-7729-74F6-073AAA0A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83238C-A9CF-BD36-C364-0941D91D1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315FCBD-6224-50DC-374E-FEE456DF2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996038C-3A05-A9F5-66CD-BCF161C154F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5546E3-90F9-3E63-39D8-475D72E2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18A6DBA-1132-D078-810B-C073C176356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7:14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B06FFE-4E27-F452-11BE-CC340CC149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36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FCAF-9840-6E35-CB47-E3E9FA13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E70735-986E-1636-D0D0-8B5DF0296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093EDF-29B5-2BB3-6809-B2533CD96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2BC8739-99FE-88DB-C5AC-2CE24CCB208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8631B9-C759-F9EC-4ABA-8E6BC724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D562E0D-EBB7-7EF4-318F-F2229F70083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9:44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DFCC53-6E18-2950-667E-85E033C0CB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4481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A391-64FE-0ADE-3E61-54BCE7FA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75E80B-2894-30D7-BEB0-D069F9FCE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89F161-757A-7366-70FC-777EC48C8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84D0E14-8EAF-6671-9287-52981F265CB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2028D8-F290-08E1-50D0-9F5F88C4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574CCD5-74BF-10BD-64DD-E6E356C67F2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9/22/2026 9:45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71CEDB-DA85-0F69-8897-09D3819EF1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203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45B0-C657-9321-7E57-BD477E4D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3FACD-0D94-4670-2924-2DBC1796E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F8C38-6013-D37D-2823-4746C30F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487F9B5-A75A-B5B8-310B-EB4BC76BA00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B164-3A07-7E42-8CDE-01115431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F6B981-A456-84C5-299D-B14AEF5DBD0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 7:14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9330E-DE58-960A-9FF7-8869241C9E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53116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 7:14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apr.io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666693"/>
            <a:ext cx="11201400" cy="2297169"/>
          </a:xfrm>
        </p:spPr>
        <p:txBody>
          <a:bodyPr/>
          <a:lstStyle/>
          <a:p>
            <a:r>
              <a:rPr lang="pt-BR" sz="4400" b="1" dirty="0" err="1"/>
              <a:t>Dapr</a:t>
            </a:r>
            <a:r>
              <a:rPr lang="pt-BR" sz="4400" b="1" dirty="0"/>
              <a:t> + </a:t>
            </a:r>
            <a:r>
              <a:rPr lang="pt-BR" sz="4400" b="1" dirty="0" err="1"/>
              <a:t>Microservices</a:t>
            </a:r>
            <a:br>
              <a:rPr lang="pt-BR" sz="4400" b="1" dirty="0"/>
            </a:br>
            <a:r>
              <a:rPr lang="pt-BR" sz="3000" b="1" dirty="0"/>
              <a:t>Descomplicando a implementação de aplicações com </a:t>
            </a:r>
            <a:r>
              <a:rPr lang="pt-BR" sz="3000" b="1" dirty="0" err="1"/>
              <a:t>building</a:t>
            </a:r>
            <a:r>
              <a:rPr lang="pt-BR" sz="3000" b="1" dirty="0"/>
              <a:t> </a:t>
            </a:r>
            <a:r>
              <a:rPr lang="pt-BR" sz="3000" b="1" dirty="0" err="1"/>
              <a:t>blocks</a:t>
            </a:r>
            <a:r>
              <a:rPr lang="pt-BR" sz="3000" b="1" dirty="0"/>
              <a:t>!</a:t>
            </a:r>
            <a:endParaRPr lang="pt-BR" sz="3000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F52FE4D-4A7E-E268-38E9-41C78C5634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279" y="2321421"/>
            <a:ext cx="7502558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Grafana Champion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DEC735E-802B-959D-F213-D678837CE2EB}"/>
              </a:ext>
            </a:extLst>
          </p:cNvPr>
          <p:cNvSpPr txBox="1">
            <a:spLocks/>
          </p:cNvSpPr>
          <p:nvPr/>
        </p:nvSpPr>
        <p:spPr bwMode="white">
          <a:xfrm>
            <a:off x="849280" y="3911217"/>
            <a:ext cx="6111478" cy="1872045"/>
          </a:xfrm>
          <a:prstGeom prst="rect">
            <a:avLst/>
          </a:prstGeom>
          <a:noFill/>
        </p:spPr>
        <p:txBody>
          <a:bodyPr vert="horz" wrap="square" lIns="146304" tIns="109728" rIns="146304" bIns="109728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Bruno Brito</a:t>
            </a:r>
          </a:p>
          <a:p>
            <a:r>
              <a:rPr lang="en-US" sz="2400" dirty="0"/>
              <a:t>Microsoft MVP, Docker Captain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brunobritodev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E72543C-58EE-8C56-6D9B-408C377B1A29}"/>
              </a:ext>
            </a:extLst>
          </p:cNvPr>
          <p:cNvSpPr/>
          <p:nvPr/>
        </p:nvSpPr>
        <p:spPr bwMode="auto">
          <a:xfrm>
            <a:off x="198437" y="5935662"/>
            <a:ext cx="2057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pt-BR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pic>
        <p:nvPicPr>
          <p:cNvPr id="12" name="Imagem 11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13C3B06D-B89C-9251-DC83-8C13E56F8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37" y="5493273"/>
            <a:ext cx="3764394" cy="166911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D4B30DA8-BFD8-3D80-AC52-12939778F923}"/>
              </a:ext>
            </a:extLst>
          </p:cNvPr>
          <p:cNvPicPr>
            <a:picLocks noChangeAspect="1"/>
          </p:cNvPicPr>
          <p:nvPr/>
        </p:nvPicPr>
        <p:blipFill>
          <a:blip>
            <a:lum bright="20000" contrast="4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5637" y="2823491"/>
            <a:ext cx="3507256" cy="187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281D-433F-962E-1556-B0C307D3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5A1AFB-80F1-A12B-9B87-4C53713E9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16" y="1238303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CSA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AzureBrasil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+18 anos de experiência em Engenharia de Software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Pai de um monte de 3 filhos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EF20E9-FFCB-4C63-985A-A7423D7F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Bruno Brito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163F9C1F-EE32-A8CD-0EE2-3D986056CA40}"/>
              </a:ext>
            </a:extLst>
          </p:cNvPr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endParaRPr lang="pt-BR" sz="1836" spc="300" dirty="0">
              <a:solidFill>
                <a:schemeClr val="bg1"/>
              </a:solidFill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BB8EBC8-4003-AFE6-6588-B6239FD98E84}"/>
              </a:ext>
            </a:extLst>
          </p:cNvPr>
          <p:cNvSpPr txBox="1">
            <a:spLocks/>
          </p:cNvSpPr>
          <p:nvPr/>
        </p:nvSpPr>
        <p:spPr>
          <a:xfrm>
            <a:off x="-106363" y="6606686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linkedin.com/in/</a:t>
            </a:r>
            <a:r>
              <a:rPr lang="pt-BR" sz="1836" spc="300" dirty="0" err="1">
                <a:solidFill>
                  <a:schemeClr val="bg1"/>
                </a:solidFill>
              </a:rPr>
              <a:t>brunobritodev</a:t>
            </a:r>
            <a:endParaRPr lang="pt-BR" sz="1836" spc="30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B661DB-CFF5-F03A-456E-22BAFF8F0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386859" y="677862"/>
            <a:ext cx="2128894" cy="212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EB7ABC1F-527D-B436-3627-420726B20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EB376-A44E-20F6-FB0D-EACC2322A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838" y="4646564"/>
            <a:ext cx="1600799" cy="160079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58D8534-E3F0-3302-FA44-285208FEB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1774" y="3275419"/>
            <a:ext cx="2659063" cy="265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DCB3-688A-6AC7-A3ED-556E7C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A32D-2B68-7979-A26C-4D640C33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73AABD-0E0C-52EB-E837-CB826874F805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724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800" b="1" dirty="0">
                <a:solidFill>
                  <a:schemeClr val="bg1"/>
                </a:solidFill>
              </a:rPr>
              <a:t>github.com/renatogroffe/dapr-microservices_tdc-sp-2026-09</a:t>
            </a:r>
            <a:endParaRPr lang="pt-BR" sz="2400" b="1" dirty="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8F8F3B65-2C82-458C-19C5-15EB31294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735" y="3725862"/>
            <a:ext cx="8098902" cy="3591023"/>
          </a:xfrm>
          <a:prstGeom prst="rect">
            <a:avLst/>
          </a:prstGeom>
        </p:spPr>
      </p:pic>
      <p:pic>
        <p:nvPicPr>
          <p:cNvPr id="3" name="Imagem 2" descr="dapr-stacked-color.png">
            <a:extLst>
              <a:ext uri="{FF2B5EF4-FFF2-40B4-BE49-F238E27FC236}">
                <a16:creationId xmlns:a16="http://schemas.microsoft.com/office/drawing/2014/main" id="{D9BC951B-5E56-1C4D-798B-C5DDA0100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437" y="4590190"/>
            <a:ext cx="2514600" cy="188217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DA7EC22-9082-4FD2-EDBD-2947736A6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127" y="1092927"/>
            <a:ext cx="2404335" cy="240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297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11810999" cy="190205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Microservices</a:t>
            </a:r>
            <a:r>
              <a:rPr lang="pt-BR" sz="3600" dirty="0">
                <a:solidFill>
                  <a:srgbClr val="494949"/>
                </a:solidFill>
              </a:rPr>
              <a:t> e Aplicações Distribuídas: desafios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Dapr</a:t>
            </a:r>
            <a:r>
              <a:rPr lang="pt-BR" sz="3600" dirty="0">
                <a:solidFill>
                  <a:srgbClr val="494949"/>
                </a:solidFill>
              </a:rPr>
              <a:t>: uma visão geral e arquitetura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5" name="Imagem 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1E780E8-5F84-0957-643C-CE4928FBC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735" y="3725862"/>
            <a:ext cx="8098902" cy="3591023"/>
          </a:xfrm>
          <a:prstGeom prst="rect">
            <a:avLst/>
          </a:prstGeom>
        </p:spPr>
      </p:pic>
      <p:pic>
        <p:nvPicPr>
          <p:cNvPr id="10" name="Imagem 9" descr="dapr-stacked-color.png">
            <a:extLst>
              <a:ext uri="{FF2B5EF4-FFF2-40B4-BE49-F238E27FC236}">
                <a16:creationId xmlns:a16="http://schemas.microsoft.com/office/drawing/2014/main" id="{C70EF6C2-A4B6-E452-9D80-7E2D3E397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437" y="4590190"/>
            <a:ext cx="2514600" cy="188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4D28-D0C2-0488-0FB5-6592C6EA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9A661-B19D-55CE-5172-0A384E981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Microservices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 e Aplicações Distribuídas: desafios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708365-0FD3-6BFC-2107-34498CA1A2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650769"/>
            <a:ext cx="8305798" cy="466589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Complexidade da infraestrutura envolvida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Inúmeras tecnologias podem ser empregadas em um mesmo contexto específico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Falta de padronização, com cada equipe resolvendo problemas à sua maneira</a:t>
            </a:r>
          </a:p>
          <a:p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487D6CFD-7CC4-9924-23F2-261AD2D8E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8037" y="2201862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8363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6398-FE21-1372-799D-B711E4E7C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6D089-DF0E-472F-38FE-B43BA02C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Microservices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 e Aplicações Distribuídas: desafios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2B1800-7A0B-AB77-D5E0-28D6295AD6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582856"/>
            <a:ext cx="8305798" cy="505061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Resiliência, </a:t>
            </a:r>
            <a:r>
              <a:rPr lang="pt-BR" sz="3000" dirty="0" err="1">
                <a:solidFill>
                  <a:srgbClr val="494949"/>
                </a:solidFill>
              </a:rPr>
              <a:t>Observabilidade</a:t>
            </a:r>
            <a:r>
              <a:rPr lang="pt-BR" sz="3000" dirty="0">
                <a:solidFill>
                  <a:srgbClr val="494949"/>
                </a:solidFill>
              </a:rPr>
              <a:t>, Segurança...</a:t>
            </a:r>
          </a:p>
          <a:p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Soluções proprietárias ou projetos cloud </a:t>
            </a:r>
            <a:r>
              <a:rPr lang="pt-BR" sz="3000" dirty="0" err="1">
                <a:solidFill>
                  <a:srgbClr val="494949"/>
                </a:solidFill>
              </a:rPr>
              <a:t>native</a:t>
            </a:r>
            <a:r>
              <a:rPr lang="pt-BR" sz="3000" dirty="0">
                <a:solidFill>
                  <a:srgbClr val="494949"/>
                </a:solidFill>
              </a:rPr>
              <a:t>/open </a:t>
            </a:r>
            <a:r>
              <a:rPr lang="pt-BR" sz="3000" dirty="0" err="1">
                <a:solidFill>
                  <a:srgbClr val="494949"/>
                </a:solidFill>
              </a:rPr>
              <a:t>source</a:t>
            </a:r>
            <a:r>
              <a:rPr lang="pt-BR" sz="3000" dirty="0">
                <a:solidFill>
                  <a:srgbClr val="494949"/>
                </a:solidFill>
              </a:rPr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Dificuldades em como testar projetos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Embora a tecnologia seja importante, o foco em atender ao negócio vem em primeiro lugar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A3A7F0D-25C4-2229-9A26-2D0C56C622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8037" y="2201862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437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B2997-56EA-1390-2FD6-2F173123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F3FC3-7EDE-65DB-2518-6A32BC23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Uma resposta: 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endParaRPr lang="pt-BR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8" name="Imagem 7" descr="dapr-stacked-color.png">
            <a:extLst>
              <a:ext uri="{FF2B5EF4-FFF2-40B4-BE49-F238E27FC236}">
                <a16:creationId xmlns:a16="http://schemas.microsoft.com/office/drawing/2014/main" id="{9BAD19B6-E940-1FBC-C53D-82681ED9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431" y="1897062"/>
            <a:ext cx="4953611" cy="370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521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3058-67DD-359A-9DF3-294C765B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8181C4DC-606E-2598-7963-1882451C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0992C7D-D827-A67F-D0B8-6A52A528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D63947-A7ED-7BF5-39E0-9786F2B82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363662"/>
            <a:ext cx="7696198" cy="503214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 err="1">
                <a:solidFill>
                  <a:srgbClr val="494949"/>
                </a:solidFill>
              </a:rPr>
              <a:t>Distributed</a:t>
            </a:r>
            <a:r>
              <a:rPr lang="pt-BR" sz="3000" dirty="0">
                <a:solidFill>
                  <a:srgbClr val="494949"/>
                </a:solidFill>
              </a:rPr>
              <a:t> </a:t>
            </a:r>
            <a:r>
              <a:rPr lang="pt-BR" sz="3000" dirty="0" err="1">
                <a:solidFill>
                  <a:srgbClr val="494949"/>
                </a:solidFill>
              </a:rPr>
              <a:t>Application</a:t>
            </a:r>
            <a:r>
              <a:rPr lang="pt-BR" sz="3000" dirty="0">
                <a:solidFill>
                  <a:srgbClr val="494949"/>
                </a:solidFill>
              </a:rPr>
              <a:t> </a:t>
            </a:r>
            <a:r>
              <a:rPr lang="pt-BR" sz="3000" dirty="0" err="1">
                <a:solidFill>
                  <a:srgbClr val="494949"/>
                </a:solidFill>
              </a:rPr>
              <a:t>Runtime</a:t>
            </a:r>
            <a:br>
              <a:rPr lang="pt-BR" sz="3000" dirty="0">
                <a:solidFill>
                  <a:srgbClr val="494949"/>
                </a:solidFill>
              </a:rPr>
            </a:br>
            <a:r>
              <a:rPr lang="pt-BR" sz="3000" dirty="0">
                <a:solidFill>
                  <a:srgbClr val="494949"/>
                </a:solidFill>
                <a:hlinkClick r:id="rId4"/>
              </a:rPr>
              <a:t>https://dapr.io/</a:t>
            </a:r>
            <a:br>
              <a:rPr lang="pt-BR" sz="3000" dirty="0">
                <a:solidFill>
                  <a:srgbClr val="494949"/>
                </a:solidFill>
              </a:rPr>
            </a:br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rgbClr val="494949"/>
                </a:solidFill>
              </a:rPr>
              <a:t>Open </a:t>
            </a:r>
            <a:r>
              <a:rPr lang="pt-BR" sz="3000" b="1" dirty="0" err="1">
                <a:solidFill>
                  <a:srgbClr val="494949"/>
                </a:solidFill>
              </a:rPr>
              <a:t>source</a:t>
            </a:r>
            <a:r>
              <a:rPr lang="pt-BR" sz="3000" dirty="0">
                <a:solidFill>
                  <a:srgbClr val="494949"/>
                </a:solidFill>
              </a:rPr>
              <a:t>, </a:t>
            </a:r>
            <a:r>
              <a:rPr lang="pt-BR" sz="3000" b="1" dirty="0">
                <a:solidFill>
                  <a:srgbClr val="494949"/>
                </a:solidFill>
              </a:rPr>
              <a:t>multiplataforma</a:t>
            </a:r>
            <a:r>
              <a:rPr lang="pt-BR" sz="3000" dirty="0">
                <a:solidFill>
                  <a:srgbClr val="494949"/>
                </a:solidFill>
              </a:rPr>
              <a:t> e com status como </a:t>
            </a:r>
            <a:r>
              <a:rPr lang="pt-BR" sz="3000" b="1" dirty="0" err="1">
                <a:solidFill>
                  <a:srgbClr val="494949"/>
                </a:solidFill>
              </a:rPr>
              <a:t>Graduated</a:t>
            </a:r>
            <a:r>
              <a:rPr lang="pt-BR" sz="3000" dirty="0">
                <a:solidFill>
                  <a:srgbClr val="494949"/>
                </a:solidFill>
              </a:rPr>
              <a:t> – desde </a:t>
            </a:r>
            <a:r>
              <a:rPr lang="pt-BR" sz="3000" b="1" dirty="0">
                <a:solidFill>
                  <a:srgbClr val="494949"/>
                </a:solidFill>
              </a:rPr>
              <a:t>Outubro/2024</a:t>
            </a:r>
            <a:r>
              <a:rPr lang="pt-BR" sz="3000" dirty="0">
                <a:solidFill>
                  <a:srgbClr val="494949"/>
                </a:solidFill>
              </a:rPr>
              <a:t> – na </a:t>
            </a:r>
            <a:r>
              <a:rPr lang="pt-BR" sz="3000" b="1" dirty="0">
                <a:solidFill>
                  <a:srgbClr val="494949"/>
                </a:solidFill>
              </a:rPr>
              <a:t>CNCF (Cloud </a:t>
            </a:r>
            <a:r>
              <a:rPr lang="pt-BR" sz="3000" b="1" dirty="0" err="1">
                <a:solidFill>
                  <a:srgbClr val="494949"/>
                </a:solidFill>
              </a:rPr>
              <a:t>Native</a:t>
            </a:r>
            <a:r>
              <a:rPr lang="pt-BR" sz="3000" b="1" dirty="0">
                <a:solidFill>
                  <a:srgbClr val="494949"/>
                </a:solidFill>
              </a:rPr>
              <a:t> </a:t>
            </a:r>
            <a:r>
              <a:rPr lang="pt-BR" sz="3000" b="1" dirty="0" err="1">
                <a:solidFill>
                  <a:srgbClr val="494949"/>
                </a:solidFill>
              </a:rPr>
              <a:t>Computing</a:t>
            </a:r>
            <a:r>
              <a:rPr lang="pt-BR" sz="3000" b="1" dirty="0">
                <a:solidFill>
                  <a:srgbClr val="494949"/>
                </a:solidFill>
              </a:rPr>
              <a:t> Foundation)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0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Framework com </a:t>
            </a:r>
            <a:r>
              <a:rPr lang="pt-BR" sz="3000" b="1" dirty="0">
                <a:solidFill>
                  <a:srgbClr val="494949"/>
                </a:solidFill>
              </a:rPr>
              <a:t>Building </a:t>
            </a:r>
            <a:r>
              <a:rPr lang="pt-BR" sz="3000" b="1" dirty="0" err="1">
                <a:solidFill>
                  <a:srgbClr val="494949"/>
                </a:solidFill>
              </a:rPr>
              <a:t>blocks</a:t>
            </a:r>
            <a:r>
              <a:rPr lang="pt-BR" sz="3000" dirty="0">
                <a:solidFill>
                  <a:srgbClr val="494949"/>
                </a:solidFill>
              </a:rPr>
              <a:t> para a construção de </a:t>
            </a:r>
            <a:r>
              <a:rPr lang="pt-BR" sz="3000" dirty="0" err="1">
                <a:solidFill>
                  <a:srgbClr val="494949"/>
                </a:solidFill>
              </a:rPr>
              <a:t>Microservices</a:t>
            </a:r>
            <a:r>
              <a:rPr lang="pt-BR" sz="3000" dirty="0">
                <a:solidFill>
                  <a:srgbClr val="494949"/>
                </a:solidFill>
              </a:rPr>
              <a:t> e aplicações distribuídas</a:t>
            </a:r>
          </a:p>
        </p:txBody>
      </p:sp>
    </p:spTree>
    <p:extLst>
      <p:ext uri="{BB962C8B-B14F-4D97-AF65-F5344CB8AC3E}">
        <p14:creationId xmlns:p14="http://schemas.microsoft.com/office/powerpoint/2010/main" val="18920154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B661-3772-B66D-8A84-68081FB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B2D212FA-7129-F52B-17DB-14A471E17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F8223F-8823-13BB-8067-F3D48459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F19F2D-6FAA-8079-B052-634AD4673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363662"/>
            <a:ext cx="7696198" cy="553997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Ambientes baseados em </a:t>
            </a:r>
            <a:r>
              <a:rPr lang="pt-BR" sz="3000" b="1" dirty="0" err="1">
                <a:solidFill>
                  <a:srgbClr val="494949"/>
                </a:solidFill>
              </a:rPr>
              <a:t>Kubernetes</a:t>
            </a:r>
            <a:r>
              <a:rPr lang="pt-BR" sz="3000" dirty="0">
                <a:solidFill>
                  <a:srgbClr val="494949"/>
                </a:solidFill>
              </a:rPr>
              <a:t> ou </a:t>
            </a:r>
            <a:r>
              <a:rPr lang="pt-BR" sz="3000" b="1" dirty="0">
                <a:solidFill>
                  <a:srgbClr val="494949"/>
                </a:solidFill>
              </a:rPr>
              <a:t>máquinas-virtuais</a:t>
            </a:r>
            <a:r>
              <a:rPr lang="pt-BR" sz="3000" dirty="0">
                <a:solidFill>
                  <a:srgbClr val="494949"/>
                </a:solidFill>
              </a:rPr>
              <a:t> (</a:t>
            </a:r>
            <a:r>
              <a:rPr lang="pt-BR" sz="3000" b="1" dirty="0">
                <a:solidFill>
                  <a:srgbClr val="494949"/>
                </a:solidFill>
              </a:rPr>
              <a:t>Self-</a:t>
            </a:r>
            <a:r>
              <a:rPr lang="pt-BR" sz="3000" b="1" dirty="0" err="1">
                <a:solidFill>
                  <a:srgbClr val="494949"/>
                </a:solidFill>
              </a:rPr>
              <a:t>hosted</a:t>
            </a:r>
            <a:r>
              <a:rPr lang="pt-BR" sz="3000" b="1" dirty="0">
                <a:solidFill>
                  <a:srgbClr val="494949"/>
                </a:solidFill>
              </a:rPr>
              <a:t> </a:t>
            </a:r>
            <a:r>
              <a:rPr lang="pt-BR" sz="3000" b="1" dirty="0" err="1">
                <a:solidFill>
                  <a:srgbClr val="494949"/>
                </a:solidFill>
              </a:rPr>
              <a:t>mode</a:t>
            </a:r>
            <a:r>
              <a:rPr lang="pt-BR" sz="3000" dirty="0">
                <a:solidFill>
                  <a:srgbClr val="494949"/>
                </a:solidFill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O suporte a </a:t>
            </a:r>
            <a:r>
              <a:rPr lang="pt-BR" sz="3000" b="1" dirty="0" err="1">
                <a:solidFill>
                  <a:srgbClr val="494949"/>
                </a:solidFill>
              </a:rPr>
              <a:t>Kubernetes</a:t>
            </a:r>
            <a:r>
              <a:rPr lang="pt-BR" sz="3000" dirty="0">
                <a:solidFill>
                  <a:srgbClr val="494949"/>
                </a:solidFill>
              </a:rPr>
              <a:t> permite que implementações em </a:t>
            </a:r>
            <a:r>
              <a:rPr lang="pt-BR" sz="3000" b="1" dirty="0" err="1">
                <a:solidFill>
                  <a:srgbClr val="494949"/>
                </a:solidFill>
              </a:rPr>
              <a:t>Dapr</a:t>
            </a:r>
            <a:r>
              <a:rPr lang="pt-BR" sz="3000" b="1" dirty="0">
                <a:solidFill>
                  <a:srgbClr val="494949"/>
                </a:solidFill>
              </a:rPr>
              <a:t> </a:t>
            </a:r>
            <a:r>
              <a:rPr lang="pt-BR" sz="3000" dirty="0">
                <a:solidFill>
                  <a:srgbClr val="494949"/>
                </a:solidFill>
              </a:rPr>
              <a:t>possam ser projetadas para </a:t>
            </a:r>
            <a:r>
              <a:rPr lang="pt-BR" sz="3000" b="1" dirty="0">
                <a:solidFill>
                  <a:srgbClr val="494949"/>
                </a:solidFill>
              </a:rPr>
              <a:t>qualquer nuvem</a:t>
            </a:r>
            <a:r>
              <a:rPr lang="pt-BR" sz="3000" dirty="0">
                <a:solidFill>
                  <a:srgbClr val="494949"/>
                </a:solidFill>
              </a:rPr>
              <a:t> ou, mesmo, </a:t>
            </a:r>
            <a:r>
              <a:rPr lang="pt-BR" sz="3000" b="1" dirty="0">
                <a:solidFill>
                  <a:srgbClr val="494949"/>
                </a:solidFill>
              </a:rPr>
              <a:t>ambientes </a:t>
            </a:r>
            <a:r>
              <a:rPr lang="pt-BR" sz="3000" b="1" dirty="0" err="1">
                <a:solidFill>
                  <a:srgbClr val="494949"/>
                </a:solidFill>
              </a:rPr>
              <a:t>on-premise</a:t>
            </a:r>
            <a:endParaRPr lang="pt-BR" sz="30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Soluções </a:t>
            </a:r>
            <a:r>
              <a:rPr lang="pt-BR" sz="3000" dirty="0" err="1">
                <a:solidFill>
                  <a:srgbClr val="494949"/>
                </a:solidFill>
              </a:rPr>
              <a:t>serverless</a:t>
            </a:r>
            <a:r>
              <a:rPr lang="pt-BR" sz="3000" dirty="0">
                <a:solidFill>
                  <a:srgbClr val="494949"/>
                </a:solidFill>
              </a:rPr>
              <a:t> como </a:t>
            </a:r>
            <a:r>
              <a:rPr lang="pt-BR" sz="3000" b="1" dirty="0">
                <a:solidFill>
                  <a:srgbClr val="494949"/>
                </a:solidFill>
              </a:rPr>
              <a:t>Azure Container Apps</a:t>
            </a:r>
            <a:r>
              <a:rPr lang="pt-BR" sz="3000" dirty="0">
                <a:solidFill>
                  <a:srgbClr val="494949"/>
                </a:solidFill>
              </a:rPr>
              <a:t> e </a:t>
            </a:r>
            <a:r>
              <a:rPr lang="pt-BR" sz="3000" b="1" dirty="0">
                <a:solidFill>
                  <a:srgbClr val="494949"/>
                </a:solidFill>
              </a:rPr>
              <a:t>Azure </a:t>
            </a:r>
            <a:r>
              <a:rPr lang="pt-BR" sz="3000" b="1" dirty="0" err="1">
                <a:solidFill>
                  <a:srgbClr val="494949"/>
                </a:solidFill>
              </a:rPr>
              <a:t>Functions</a:t>
            </a:r>
            <a:r>
              <a:rPr lang="pt-BR" sz="3000" dirty="0">
                <a:solidFill>
                  <a:srgbClr val="494949"/>
                </a:solidFill>
              </a:rPr>
              <a:t> também possuem integrações</a:t>
            </a:r>
            <a:br>
              <a:rPr lang="pt-BR" sz="3000" dirty="0">
                <a:solidFill>
                  <a:srgbClr val="494949"/>
                </a:solidFill>
              </a:rPr>
            </a:br>
            <a:endParaRPr lang="pt-BR" sz="3000" dirty="0">
              <a:solidFill>
                <a:srgbClr val="4949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67406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1AE9-D22D-197A-5663-F8BD2100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419CAD83-9D17-7E06-EA30-0911A89B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C0E053D-82B1-B8D2-78B6-E3E45A93D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F39B50-B3E0-2209-A622-E70E266B91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363662"/>
            <a:ext cx="7696198" cy="53460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b="1" dirty="0">
                <a:solidFill>
                  <a:srgbClr val="494949"/>
                </a:solidFill>
              </a:rPr>
              <a:t>Building </a:t>
            </a:r>
            <a:r>
              <a:rPr lang="pt-BR" sz="2600" b="1" dirty="0" err="1">
                <a:solidFill>
                  <a:srgbClr val="494949"/>
                </a:solidFill>
              </a:rPr>
              <a:t>blocks</a:t>
            </a:r>
            <a:r>
              <a:rPr lang="pt-BR" sz="2600" dirty="0">
                <a:solidFill>
                  <a:srgbClr val="494949"/>
                </a:solidFill>
              </a:rPr>
              <a:t> são agrupados em um </a:t>
            </a:r>
            <a:r>
              <a:rPr lang="pt-BR" sz="2600" b="1" dirty="0">
                <a:solidFill>
                  <a:srgbClr val="494949"/>
                </a:solidFill>
              </a:rPr>
              <a:t>sidecar </a:t>
            </a:r>
            <a:r>
              <a:rPr lang="pt-BR" sz="2600" dirty="0">
                <a:solidFill>
                  <a:srgbClr val="494949"/>
                </a:solidFill>
              </a:rPr>
              <a:t>para a aplicação, de forma a simplificar a interação com serviços de apoio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A configuração dos </a:t>
            </a:r>
            <a:r>
              <a:rPr lang="pt-BR" sz="2600" b="1" dirty="0" err="1">
                <a:solidFill>
                  <a:srgbClr val="494949"/>
                </a:solidFill>
              </a:rPr>
              <a:t>building</a:t>
            </a:r>
            <a:r>
              <a:rPr lang="pt-BR" sz="2600" b="1" dirty="0">
                <a:solidFill>
                  <a:srgbClr val="494949"/>
                </a:solidFill>
              </a:rPr>
              <a:t> </a:t>
            </a:r>
            <a:r>
              <a:rPr lang="pt-BR" sz="2600" b="1" dirty="0" err="1">
                <a:solidFill>
                  <a:srgbClr val="494949"/>
                </a:solidFill>
              </a:rPr>
              <a:t>blocks</a:t>
            </a:r>
            <a:r>
              <a:rPr lang="pt-BR" sz="2600" b="1" dirty="0">
                <a:solidFill>
                  <a:srgbClr val="494949"/>
                </a:solidFill>
              </a:rPr>
              <a:t> </a:t>
            </a:r>
            <a:r>
              <a:rPr lang="pt-BR" sz="2600" dirty="0">
                <a:solidFill>
                  <a:srgbClr val="494949"/>
                </a:solidFill>
              </a:rPr>
              <a:t>pode ser feita via </a:t>
            </a:r>
            <a:r>
              <a:rPr lang="pt-BR" sz="2600" b="1" dirty="0">
                <a:solidFill>
                  <a:srgbClr val="494949"/>
                </a:solidFill>
              </a:rPr>
              <a:t>arquivos YAML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b="1" dirty="0" err="1">
                <a:solidFill>
                  <a:srgbClr val="494949"/>
                </a:solidFill>
              </a:rPr>
              <a:t>Dapr</a:t>
            </a:r>
            <a:r>
              <a:rPr lang="pt-BR" sz="2600" b="1" dirty="0">
                <a:solidFill>
                  <a:srgbClr val="494949"/>
                </a:solidFill>
              </a:rPr>
              <a:t> CLI </a:t>
            </a:r>
            <a:r>
              <a:rPr lang="pt-BR" sz="2600" dirty="0">
                <a:solidFill>
                  <a:srgbClr val="494949"/>
                </a:solidFill>
              </a:rPr>
              <a:t>como ferramenta de desenvolvimento e execução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A comunicação entre aplicação e sidecar usa os protocolos </a:t>
            </a:r>
            <a:r>
              <a:rPr lang="pt-BR" sz="2600" b="1" dirty="0" err="1">
                <a:solidFill>
                  <a:srgbClr val="494949"/>
                </a:solidFill>
              </a:rPr>
              <a:t>gRPC</a:t>
            </a:r>
            <a:r>
              <a:rPr lang="pt-BR" sz="2600" b="1" dirty="0">
                <a:solidFill>
                  <a:srgbClr val="494949"/>
                </a:solidFill>
              </a:rPr>
              <a:t> </a:t>
            </a:r>
            <a:r>
              <a:rPr lang="pt-BR" sz="2600" dirty="0">
                <a:solidFill>
                  <a:srgbClr val="494949"/>
                </a:solidFill>
              </a:rPr>
              <a:t>e </a:t>
            </a:r>
            <a:r>
              <a:rPr lang="pt-BR" sz="2600" b="1" dirty="0">
                <a:solidFill>
                  <a:srgbClr val="494949"/>
                </a:solidFill>
              </a:rPr>
              <a:t>HTTP</a:t>
            </a:r>
            <a:br>
              <a:rPr lang="pt-BR" sz="2600" dirty="0">
                <a:solidFill>
                  <a:srgbClr val="494949"/>
                </a:solidFill>
              </a:rPr>
            </a:br>
            <a:endParaRPr lang="pt-BR" sz="2600" dirty="0">
              <a:solidFill>
                <a:srgbClr val="4949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64411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DB905-A8C7-661B-A8BC-964AA2D3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9536C-FE36-985F-A662-270AB711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Building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blocks</a:t>
            </a:r>
            <a:endParaRPr lang="pt-BR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Imagem 6" descr="https://docs.dapr.io/images/building_blocks.png">
            <a:extLst>
              <a:ext uri="{FF2B5EF4-FFF2-40B4-BE49-F238E27FC236}">
                <a16:creationId xmlns:a16="http://schemas.microsoft.com/office/drawing/2014/main" id="{81C526BD-97A9-EF9C-4B64-695F4986F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05" y="1351790"/>
            <a:ext cx="10075802" cy="51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7538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4D69E-26C6-DE90-56EE-5F5AA897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D8176-1A7C-A5FF-62BA-F6F0ED3D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State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 Management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D4DDFC-139C-D920-6818-B81AC3560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437" y="1169689"/>
            <a:ext cx="8229600" cy="556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3498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059C4-424F-7C8F-F794-0C6530AF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DA9C-2A7F-1DA6-06E2-F93C2049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Publish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 (válido também para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Subscribe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2658D5-5859-DA10-3A55-830839964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037" y="1135062"/>
            <a:ext cx="8126846" cy="568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2785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1DBD-05B7-78BC-320E-425A5EB1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53C63-F929-E837-1D5C-A3B11357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Bindings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BE636F0-D8ED-1A9E-F5EF-897A00A9E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004" y="1058862"/>
            <a:ext cx="8470466" cy="578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6700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BDD8-675F-9627-20BE-59895DA3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5AFD9-03C3-226A-6293-560956EB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: Secrets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0D5245-0C8F-144B-557B-0DCE93174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44" y="1058862"/>
            <a:ext cx="8616985" cy="57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7386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45EB-3F86-DC2A-E475-15ED3C3C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F7360-0C40-B525-2A6F-5F1326A5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Conversation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 (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IAs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 Generativas)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07F1F1-0B43-10E8-EC76-531F9DAB2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437" y="1074817"/>
            <a:ext cx="8467725" cy="562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7363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E9DC5-D6B4-49FF-6263-CF20AC03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DD6CD-29D6-EFD0-A44E-4CF993A4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Building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blocks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 x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Components</a:t>
            </a:r>
            <a:endParaRPr lang="pt-BR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Imagem 2" descr="https://docs.dapr.io/images/concepts-components.png">
            <a:extLst>
              <a:ext uri="{FF2B5EF4-FFF2-40B4-BE49-F238E27FC236}">
                <a16:creationId xmlns:a16="http://schemas.microsoft.com/office/drawing/2014/main" id="{0AC1A444-4F04-1A20-CABF-7DBFAB70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37" y="1204380"/>
            <a:ext cx="10058400" cy="564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066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75E0-58AD-B894-8926-0F745042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48B1D152-C12B-5629-276C-FBB0F5C1B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41862A-96D8-4F54-7C93-D5397B4E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D54101-44CD-92DC-E6C2-9170D340F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938353"/>
            <a:ext cx="7696198" cy="277306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Resiliência</a:t>
            </a:r>
            <a:r>
              <a:rPr lang="pt-BR" sz="2900" dirty="0">
                <a:solidFill>
                  <a:srgbClr val="494949"/>
                </a:solidFill>
              </a:rPr>
              <a:t> sai do código e vai para as configurações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Maior Isolamento</a:t>
            </a:r>
            <a:r>
              <a:rPr lang="pt-BR" sz="2900" dirty="0">
                <a:solidFill>
                  <a:srgbClr val="494949"/>
                </a:solidFill>
              </a:rPr>
              <a:t> entre aplicações, com o uso de </a:t>
            </a:r>
            <a:r>
              <a:rPr lang="pt-BR" sz="2900" b="1" dirty="0" err="1">
                <a:solidFill>
                  <a:srgbClr val="494949"/>
                </a:solidFill>
              </a:rPr>
              <a:t>namespaces</a:t>
            </a:r>
            <a:r>
              <a:rPr lang="pt-BR" sz="2900" dirty="0">
                <a:solidFill>
                  <a:srgbClr val="494949"/>
                </a:solidFill>
              </a:rPr>
              <a:t> e a facilidade de criação de </a:t>
            </a:r>
            <a:r>
              <a:rPr lang="pt-BR" sz="2900" b="1" dirty="0">
                <a:solidFill>
                  <a:srgbClr val="494949"/>
                </a:solidFill>
              </a:rPr>
              <a:t>soluções </a:t>
            </a:r>
            <a:r>
              <a:rPr lang="pt-BR" sz="2900" b="1" dirty="0" err="1">
                <a:solidFill>
                  <a:srgbClr val="494949"/>
                </a:solidFill>
              </a:rPr>
              <a:t>multi-tenant</a:t>
            </a:r>
            <a:endParaRPr lang="pt-BR" sz="2900" dirty="0">
              <a:solidFill>
                <a:srgbClr val="4949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7101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9A059-6424-64C2-EB69-42F9BB4B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0FC73720-5606-D22F-1479-207E8C737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C3A69A3-12E5-1BEF-23DA-91D5B9F7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91EE40-717D-DE6C-91A6-541BC0804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938353"/>
            <a:ext cx="7315198" cy="376870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O suporte a </a:t>
            </a:r>
            <a:r>
              <a:rPr lang="pt-BR" sz="2900" b="1" dirty="0" err="1">
                <a:solidFill>
                  <a:srgbClr val="494949"/>
                </a:solidFill>
              </a:rPr>
              <a:t>OpenTelemetry</a:t>
            </a:r>
            <a:r>
              <a:rPr lang="pt-BR" sz="2900" dirty="0">
                <a:solidFill>
                  <a:srgbClr val="494949"/>
                </a:solidFill>
              </a:rPr>
              <a:t> possibilita uma fácil integração com as principais soluções de </a:t>
            </a:r>
            <a:r>
              <a:rPr lang="pt-BR" sz="2900" b="1" dirty="0" err="1">
                <a:solidFill>
                  <a:srgbClr val="494949"/>
                </a:solidFill>
              </a:rPr>
              <a:t>Observabilidade</a:t>
            </a:r>
            <a:r>
              <a:rPr lang="pt-BR" sz="2900" dirty="0">
                <a:solidFill>
                  <a:srgbClr val="494949"/>
                </a:solidFill>
              </a:rPr>
              <a:t> do mercado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Segurança customizável</a:t>
            </a:r>
            <a:r>
              <a:rPr lang="pt-BR" sz="2900" dirty="0">
                <a:solidFill>
                  <a:srgbClr val="494949"/>
                </a:solidFill>
              </a:rPr>
              <a:t>, com a possibilidade de implementação de políticas de acesso na comunicação entre aplicações</a:t>
            </a:r>
          </a:p>
        </p:txBody>
      </p:sp>
    </p:spTree>
    <p:extLst>
      <p:ext uri="{BB962C8B-B14F-4D97-AF65-F5344CB8AC3E}">
        <p14:creationId xmlns:p14="http://schemas.microsoft.com/office/powerpoint/2010/main" val="141338053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4E25F-6024-895A-D593-5218743B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EB52A939-3F6D-F604-9D37-548BDC2AC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167591-11A1-1D1B-3154-6AA95D35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benefícios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CD2E34-CB19-B287-3304-4D8CC6DDB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516063"/>
            <a:ext cx="7315198" cy="495981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Um </a:t>
            </a:r>
            <a:r>
              <a:rPr lang="pt-BR" sz="2900" b="1" dirty="0">
                <a:solidFill>
                  <a:srgbClr val="494949"/>
                </a:solidFill>
              </a:rPr>
              <a:t>maior foco na lógica do negócio </a:t>
            </a:r>
            <a:r>
              <a:rPr lang="pt-BR" sz="2900" dirty="0">
                <a:solidFill>
                  <a:srgbClr val="494949"/>
                </a:solidFill>
              </a:rPr>
              <a:t>durante a implementação de soluções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Suporte a múltiplas </a:t>
            </a:r>
            <a:r>
              <a:rPr lang="pt-BR" sz="2900" dirty="0" err="1">
                <a:solidFill>
                  <a:srgbClr val="494949"/>
                </a:solidFill>
              </a:rPr>
              <a:t>stacks</a:t>
            </a:r>
            <a:r>
              <a:rPr lang="pt-BR" sz="2900" dirty="0">
                <a:solidFill>
                  <a:srgbClr val="494949"/>
                </a:solidFill>
              </a:rPr>
              <a:t>: </a:t>
            </a:r>
            <a:r>
              <a:rPr lang="pt-BR" sz="2900" b="1" dirty="0">
                <a:solidFill>
                  <a:srgbClr val="494949"/>
                </a:solidFill>
              </a:rPr>
              <a:t>.NET, Java, Python, </a:t>
            </a:r>
            <a:r>
              <a:rPr lang="pt-BR" sz="2900" b="1" dirty="0" err="1">
                <a:solidFill>
                  <a:srgbClr val="494949"/>
                </a:solidFill>
              </a:rPr>
              <a:t>JavaScript</a:t>
            </a:r>
            <a:r>
              <a:rPr lang="pt-BR" sz="2900" b="1" dirty="0">
                <a:solidFill>
                  <a:srgbClr val="494949"/>
                </a:solidFill>
              </a:rPr>
              <a:t>/Node.js, Go, PHP, C++, </a:t>
            </a:r>
            <a:r>
              <a:rPr lang="pt-BR" sz="2900" b="1" dirty="0" err="1">
                <a:solidFill>
                  <a:srgbClr val="494949"/>
                </a:solidFill>
              </a:rPr>
              <a:t>Rust</a:t>
            </a: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Fornece uma </a:t>
            </a:r>
            <a:r>
              <a:rPr lang="pt-BR" sz="2900" b="1" dirty="0">
                <a:solidFill>
                  <a:srgbClr val="494949"/>
                </a:solidFill>
              </a:rPr>
              <a:t>padronização </a:t>
            </a:r>
            <a:r>
              <a:rPr lang="pt-BR" sz="2900" dirty="0">
                <a:solidFill>
                  <a:srgbClr val="494949"/>
                </a:solidFill>
              </a:rPr>
              <a:t>para times que utilizam várias linguagens/plataformas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216318909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5643-1325-E089-DB72-5C28EF71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C4AD1B9B-B22A-CB3E-6F8D-A63934F3C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599F61-187E-955C-6D5C-55AFF2A06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benefícios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6554BA-4F5C-8083-06F7-2D94909B5F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516063"/>
            <a:ext cx="7315198" cy="455817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Produtividade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Integração agnóstica </a:t>
            </a:r>
            <a:r>
              <a:rPr lang="pt-BR" sz="2900" dirty="0">
                <a:solidFill>
                  <a:srgbClr val="494949"/>
                </a:solidFill>
              </a:rPr>
              <a:t>com serviços de apoio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Uma alternativa bem interessante para </a:t>
            </a:r>
            <a:r>
              <a:rPr lang="pt-BR" sz="2900" b="1" dirty="0">
                <a:solidFill>
                  <a:srgbClr val="494949"/>
                </a:solidFill>
              </a:rPr>
              <a:t>desenvolvimento de produtos</a:t>
            </a:r>
            <a:r>
              <a:rPr lang="pt-BR" sz="2900" dirty="0">
                <a:solidFill>
                  <a:srgbClr val="494949"/>
                </a:solidFill>
              </a:rPr>
              <a:t> e </a:t>
            </a:r>
            <a:r>
              <a:rPr lang="pt-BR" sz="2900" b="1" dirty="0">
                <a:solidFill>
                  <a:srgbClr val="494949"/>
                </a:solidFill>
              </a:rPr>
              <a:t>soluções SaaS (Software as a Service)</a:t>
            </a:r>
            <a:r>
              <a:rPr lang="pt-BR" sz="2900" dirty="0">
                <a:solidFill>
                  <a:srgbClr val="494949"/>
                </a:solidFill>
              </a:rPr>
              <a:t> que ofereçam o suporte a múltiplos serviços/tecnologias de apoio similares</a:t>
            </a:r>
          </a:p>
        </p:txBody>
      </p:sp>
    </p:spTree>
    <p:extLst>
      <p:ext uri="{BB962C8B-B14F-4D97-AF65-F5344CB8AC3E}">
        <p14:creationId xmlns:p14="http://schemas.microsoft.com/office/powerpoint/2010/main" val="279935292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6303-7DE3-E30F-D85E-B3E82295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025B87F9-5A47-DB1A-9E3F-9F2FCA1600DE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E3D746F-EAA3-BD7E-29E3-92DB26B5CED9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30E2F8B7-2CDC-A19A-CAC5-D640DB718765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3B55A6-CD15-7166-CBCD-B71E468BF5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B79747FB-B643-D53C-CD57-A492BD3F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1363662"/>
            <a:ext cx="4876800" cy="2179058"/>
          </a:xfrm>
        </p:spPr>
        <p:txBody>
          <a:bodyPr/>
          <a:lstStyle/>
          <a:p>
            <a:pPr algn="ctr"/>
            <a:r>
              <a:rPr lang="pt-BR" dirty="0"/>
              <a:t>EXEMPLOS PRÁTICOS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435D5E-5C24-D142-1729-326CC3CC4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127" y="3912327"/>
            <a:ext cx="2404335" cy="240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4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166846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E07FDF-A6BD-25A7-2A91-0E0311F08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127" y="3912327"/>
            <a:ext cx="2404335" cy="240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1982</TotalTime>
  <Words>1364</Words>
  <Application>Microsoft Office PowerPoint</Application>
  <PresentationFormat>Personalizar</PresentationFormat>
  <Paragraphs>183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24</vt:i4>
      </vt:variant>
    </vt:vector>
  </HeadingPairs>
  <TitlesOfParts>
    <vt:vector size="33" baseType="lpstr">
      <vt:lpstr>Arial</vt:lpstr>
      <vt:lpstr>Consolas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Dapr + Microservices Descomplicando a implementação de aplicações com building blocks!</vt:lpstr>
      <vt:lpstr>Renato Groffe</vt:lpstr>
      <vt:lpstr>Bruno Brito</vt:lpstr>
      <vt:lpstr>Conteúdos desta apresentação</vt:lpstr>
      <vt:lpstr>Agenda</vt:lpstr>
      <vt:lpstr>Microservices e Aplicações Distribuídas: desafios</vt:lpstr>
      <vt:lpstr>Microservices e Aplicações Distribuídas: desafios</vt:lpstr>
      <vt:lpstr>Uma resposta: o projeto Dapr</vt:lpstr>
      <vt:lpstr>O projeto Dapr: uma visão geral</vt:lpstr>
      <vt:lpstr>O projeto Dapr: uma visão geral</vt:lpstr>
      <vt:lpstr>O projeto Dapr: uma visão geral</vt:lpstr>
      <vt:lpstr>O projeto Dapr: Building blocks</vt:lpstr>
      <vt:lpstr>O projeto Dapr: State Management</vt:lpstr>
      <vt:lpstr>O projeto Dapr: Publish (válido também para Subscribe)</vt:lpstr>
      <vt:lpstr>O projeto Dapr: Bindings</vt:lpstr>
      <vt:lpstr>O projeto Dapr: Secrets</vt:lpstr>
      <vt:lpstr>O projeto Dapr: Conversation (IAs Generativas)</vt:lpstr>
      <vt:lpstr>O projeto Dapr: Building blocks x Components</vt:lpstr>
      <vt:lpstr>O projeto Dapr: uma visão geral</vt:lpstr>
      <vt:lpstr>O projeto Dapr: uma visão geral</vt:lpstr>
      <vt:lpstr>O projeto Dapr: benefícios</vt:lpstr>
      <vt:lpstr>O projeto Dapr: benefícios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526</cp:revision>
  <dcterms:created xsi:type="dcterms:W3CDTF">2016-08-05T22:03:34Z</dcterms:created>
  <dcterms:modified xsi:type="dcterms:W3CDTF">2026-09-23T00:46:56Z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